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70" r:id="rId3"/>
    <p:sldId id="271" r:id="rId4"/>
    <p:sldId id="272" r:id="rId5"/>
    <p:sldId id="275" r:id="rId6"/>
    <p:sldId id="280" r:id="rId7"/>
    <p:sldId id="281" r:id="rId8"/>
    <p:sldId id="274" r:id="rId9"/>
    <p:sldId id="276" r:id="rId10"/>
    <p:sldId id="279" r:id="rId11"/>
    <p:sldId id="273" r:id="rId12"/>
    <p:sldId id="278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15" autoAdjust="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691E4-7B2C-461F-813F-ACCF54CC7039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DB3C3-41F6-47F4-BA94-0667BFBCEB5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7359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9443-7764-6146-E474-AB374288C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B9CEE-25C3-0F91-AA89-4E07ACED1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C4B1-4EB9-8038-10AB-E5DD4165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1309E-28AD-FCCC-80D5-AB27569B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1CFA3-331E-FFDD-70EE-41C6B207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19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050A-62F2-7833-8194-62B77D6A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A9E6E-618F-7F74-F800-55F0B2D99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AED93-E789-3BAC-C29A-123834F3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67EF9-AB76-F219-FC92-079D88FD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B50D1-33D7-87CA-1A9A-83F74964E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19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2098-8BB7-8BA7-2066-CE9A3518A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A37A3-4230-88D8-974B-FF5597237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6D718-7C56-A8E3-7E40-0E2AE6D89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6E7C2-DE4C-D9CF-AAD2-9776A4D4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DF6CC-70ED-6EE3-F85E-5A2A0B51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3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4870-866E-4FCD-966E-575B173C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6BD6-3047-81DB-ED86-702232B9F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0BDEF-F9CF-57A3-F032-AD9DC0168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95DBB-4C3A-1476-C089-35EF13A4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A09FF-40C3-90AD-149E-46CB5436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B5751-D4E8-AB6B-A24E-3C15D464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522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92B19-5590-EECA-14C5-BE745FACE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1E5ED-8FBA-2058-FA38-03D3FB84B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1B3E5-FE36-9510-E6E4-A10D563F4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F8510-597F-2F0D-4A87-CCC995B4D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D665E3-D8FA-854F-7BC8-EA078E515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E99A2-2B12-3A51-82EE-782806C6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D1536-E94C-CB51-B271-0F9AA0D8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CA9632-4245-68EC-7B14-B8D2D68D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33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2D74-67E3-4FB4-DBE1-1E9181B5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35CA85-9B1A-5E33-D5F5-8F2F5F9E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06EBA-C050-D1E8-4A86-221CF34F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BDD56-DB46-6973-E990-071D79ED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015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920D7-6212-92ED-2029-8748EDAFC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5BECA-7800-F178-BE21-2EB11BAA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679DB-524A-DBC5-FADD-4B28BB98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70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6DE1-7588-BA94-916A-42D4A2D36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E3C12-13BB-60DF-7C34-E4A1A4021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21839-0668-50AE-642C-6A9AB4B01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F2457-1759-4EB0-18F7-6C0A30B3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41F68-C3B0-2CB7-7807-D07562B9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71361-2E81-C288-F8D4-3F5B6646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15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21CC-72C3-8BD4-2D8D-E3636E60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654CC-DB71-CB32-4C0F-72F2CE48B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B5D0B-C51C-8AC4-3F77-556F4867D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4C5F7-7528-D073-1AAC-9A1F79CC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8CC09-1A95-758E-FC39-1DE70858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AFA87-B68E-0B2F-E82A-97CC41D4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25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596F-C044-637D-B935-4A30B944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F70F6-F914-0FCF-68E3-809433253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5B95F-134E-A1F4-5D09-4CAE591C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B8D3A-EF55-9455-604E-A53EBC52F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AE945-469C-E5DE-E44C-24233AB1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27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52A723-3EED-3E2D-9AA1-48B9600FF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CB533-6BE3-F700-0CAD-40E50FA2F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5872C-640B-4AD9-AF2C-2775E674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DF9D8-0846-6DBC-692D-52E42CB2D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5E43E-505C-ECFA-23E5-B2925CE2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81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08866-D6EC-217A-9862-96D3B0E6F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071E1-CEE1-C86F-46F4-D9E9375CF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F13CA-F15B-C033-A545-37FEA7D9C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810F7-8400-4D7E-A753-9B9AFA474B0C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721D1-209F-F70A-55DD-FC4C34B06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BB62B-BD5A-2780-F653-2E81651B6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14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1573B-7400-A8D9-FBFF-33F769159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62D5D19A-CF3B-4B83-0D69-F7582CDA1A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45790" y="238125"/>
            <a:ext cx="3212515" cy="67113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50E91BED-7D3E-EDF0-4A55-CE2AD4C62560}"/>
              </a:ext>
            </a:extLst>
          </p:cNvPr>
          <p:cNvSpPr txBox="1"/>
          <p:nvPr/>
        </p:nvSpPr>
        <p:spPr>
          <a:xfrm>
            <a:off x="445224" y="389024"/>
            <a:ext cx="34945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5" name="Google Shape;91;p13">
            <a:extLst>
              <a:ext uri="{FF2B5EF4-FFF2-40B4-BE49-F238E27FC236}">
                <a16:creationId xmlns:a16="http://schemas.microsoft.com/office/drawing/2014/main" id="{4E209A46-8D49-8106-D4BC-58586A393EA6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Mar-2025</a:t>
            </a:r>
            <a:endParaRPr sz="1800" b="1" dirty="0">
              <a:solidFill>
                <a:srgbClr val="7030A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BB738-7EA5-FCD2-E2A7-1ACDD71D6870}"/>
              </a:ext>
            </a:extLst>
          </p:cNvPr>
          <p:cNvSpPr txBox="1"/>
          <p:nvPr/>
        </p:nvSpPr>
        <p:spPr>
          <a:xfrm>
            <a:off x="655536" y="4602325"/>
            <a:ext cx="6094476" cy="113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br>
              <a:rPr lang="fr-FR" sz="2400" b="0" i="0" dirty="0">
                <a:solidFill>
                  <a:srgbClr val="1F1F1F"/>
                </a:solidFill>
                <a:effectLst/>
                <a:latin typeface="Google Sans"/>
              </a:rPr>
            </a:br>
            <a:r>
              <a:rPr lang="fr-FR" sz="2400" b="0" i="0" dirty="0">
                <a:solidFill>
                  <a:srgbClr val="1F1F1F"/>
                </a:solidFill>
                <a:effectLst/>
                <a:latin typeface="Google Sans"/>
              </a:rPr>
              <a:t>Suivi de projet (1)</a:t>
            </a:r>
          </a:p>
          <a:p>
            <a:pPr algn="l">
              <a:lnSpc>
                <a:spcPts val="2100"/>
              </a:lnSpc>
              <a:buNone/>
            </a:pPr>
            <a:endParaRPr lang="fr-FR" sz="240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>
              <a:lnSpc>
                <a:spcPts val="1350"/>
              </a:lnSpc>
              <a:spcBef>
                <a:spcPts val="225"/>
              </a:spcBef>
            </a:pPr>
            <a:r>
              <a:rPr lang="fr-FR" sz="2400" i="0" dirty="0">
                <a:solidFill>
                  <a:srgbClr val="1F1F1F"/>
                </a:solidFill>
                <a:effectLst/>
                <a:latin typeface="Google Sans"/>
              </a:rPr>
              <a:t>Mardi, </a:t>
            </a:r>
            <a:r>
              <a:rPr lang="fr-FR" sz="2400" dirty="0">
                <a:solidFill>
                  <a:srgbClr val="1F1F1F"/>
                </a:solidFill>
                <a:latin typeface="Google Sans"/>
              </a:rPr>
              <a:t>25</a:t>
            </a:r>
            <a:r>
              <a:rPr lang="fr-FR" sz="2400" i="0" dirty="0">
                <a:solidFill>
                  <a:srgbClr val="1F1F1F"/>
                </a:solidFill>
                <a:effectLst/>
                <a:latin typeface="Google Sans"/>
              </a:rPr>
              <a:t> mars</a:t>
            </a:r>
            <a:r>
              <a:rPr lang="fr-FR" sz="2400" dirty="0">
                <a:solidFill>
                  <a:srgbClr val="1F1F1F"/>
                </a:solidFill>
                <a:latin typeface="Google Sans"/>
              </a:rPr>
              <a:t>/ 4</a:t>
            </a:r>
            <a:r>
              <a:rPr lang="fr-FR" sz="2400" i="0" dirty="0">
                <a:solidFill>
                  <a:srgbClr val="1F1F1F"/>
                </a:solidFill>
                <a:effectLst/>
                <a:latin typeface="Google Sans"/>
              </a:rPr>
              <a:t>:00pm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EA430-AFA4-E801-B6C9-7AA2ACB5D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1" t="1275" r="1028"/>
          <a:stretch/>
        </p:blipFill>
        <p:spPr>
          <a:xfrm>
            <a:off x="1207007" y="1116324"/>
            <a:ext cx="9619489" cy="34628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687B8E-824A-DAA6-9A81-838D1A589BD7}"/>
              </a:ext>
            </a:extLst>
          </p:cNvPr>
          <p:cNvSpPr txBox="1"/>
          <p:nvPr/>
        </p:nvSpPr>
        <p:spPr>
          <a:xfrm>
            <a:off x="7697841" y="4937100"/>
            <a:ext cx="3421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1" i="0" u="none" strike="noStrike" cap="none" dirty="0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Superviseur : Akram</a:t>
            </a:r>
            <a:endParaRPr lang="fr-FR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18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E09DF-DFDF-2F92-E065-415679C1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DDCB6E6F-10D4-4AF1-2C1D-43822398A4E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45790" y="238125"/>
            <a:ext cx="3212515" cy="67113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48D9F874-B4BC-2710-D1BD-CD14568BC146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Google Shape;91;p13">
            <a:extLst>
              <a:ext uri="{FF2B5EF4-FFF2-40B4-BE49-F238E27FC236}">
                <a16:creationId xmlns:a16="http://schemas.microsoft.com/office/drawing/2014/main" id="{539D052A-EA7F-8517-DA3F-2E0E169693DE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841F1-DC5A-0C58-96FC-2DBDCD33898C}"/>
              </a:ext>
            </a:extLst>
          </p:cNvPr>
          <p:cNvSpPr txBox="1"/>
          <p:nvPr/>
        </p:nvSpPr>
        <p:spPr>
          <a:xfrm>
            <a:off x="4130256" y="312080"/>
            <a:ext cx="1471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1" i="0" u="none" strike="noStrike" cap="none" dirty="0" err="1">
                <a:solidFill>
                  <a:srgbClr val="7030A0"/>
                </a:solidFill>
                <a:latin typeface="Federo"/>
                <a:ea typeface="Federo"/>
                <a:cs typeface="Federo"/>
                <a:sym typeface="Federo"/>
              </a:rPr>
              <a:t>Outline</a:t>
            </a:r>
            <a:endParaRPr lang="fr-FR" sz="2800" b="1" i="0" u="none" strike="noStrike" cap="none" dirty="0">
              <a:solidFill>
                <a:srgbClr val="7030A0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65651-0C32-C86F-5A5B-74E98D922CE0}"/>
              </a:ext>
            </a:extLst>
          </p:cNvPr>
          <p:cNvSpPr txBox="1"/>
          <p:nvPr/>
        </p:nvSpPr>
        <p:spPr>
          <a:xfrm>
            <a:off x="183720" y="2731818"/>
            <a:ext cx="8073312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Chaque ligne doit contenir une seule fois chaque chiffre de 1 à 9.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Chaque colonne doit contenir une seule fois chaque chiffre de 1 à 9.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Chaque sous-grille de 3x3 doit également contenir une seule fois chaque chiffre de 1 à 9.</a:t>
            </a:r>
          </a:p>
          <a:p>
            <a:pPr>
              <a:lnSpc>
                <a:spcPct val="150000"/>
              </a:lnSpc>
            </a:pPr>
            <a:r>
              <a:rPr lang="fr-FR" dirty="0"/>
              <a:t>Le Sudoku demande de la logique et de la patience, avec </a:t>
            </a:r>
            <a:r>
              <a:rPr lang="fr-FR" u="sng" dirty="0"/>
              <a:t>plusieurs niveaux de difficulté allant du facile à l'extrêmement complexe</a:t>
            </a:r>
            <a:r>
              <a:rPr lang="fr-FR" dirty="0"/>
              <a:t>. </a:t>
            </a:r>
          </a:p>
        </p:txBody>
      </p:sp>
      <p:pic>
        <p:nvPicPr>
          <p:cNvPr id="8" name="Picture 2" descr="Sudoku — Wikipédia">
            <a:extLst>
              <a:ext uri="{FF2B5EF4-FFF2-40B4-BE49-F238E27FC236}">
                <a16:creationId xmlns:a16="http://schemas.microsoft.com/office/drawing/2014/main" id="{8C3D5190-67E5-C392-EA39-A3EF92B92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2450" y="2621075"/>
            <a:ext cx="3487117" cy="348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E2483C-AE13-7CC8-7EDD-B39A4A1C84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225768" y="182581"/>
            <a:ext cx="3134868" cy="11192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0B869C-FD07-9ADC-6526-DDFCC8C2C1D3}"/>
              </a:ext>
            </a:extLst>
          </p:cNvPr>
          <p:cNvSpPr txBox="1"/>
          <p:nvPr/>
        </p:nvSpPr>
        <p:spPr>
          <a:xfrm>
            <a:off x="111068" y="1465284"/>
            <a:ext cx="11969864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dirty="0"/>
              <a:t>Le Sudoku est un jeu de réflexion basé sur les nombres. Il se joue sur une grille de 9x9 cases, divisée en neuf sous-grilles de 3x3. L'objectif est de remplir la grille avec les chiffres de 1 à 9, en respectant les règles suivantes :</a:t>
            </a:r>
          </a:p>
        </p:txBody>
      </p:sp>
    </p:spTree>
    <p:extLst>
      <p:ext uri="{BB962C8B-B14F-4D97-AF65-F5344CB8AC3E}">
        <p14:creationId xmlns:p14="http://schemas.microsoft.com/office/powerpoint/2010/main" val="62798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806E-2F98-E774-4B83-E6B20A2C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13D6D2AE-10BB-5BA5-EB88-A17D1983A7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20CB3F-34A4-31E3-E841-13A46AD44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10693"/>
            <a:ext cx="3346234" cy="1194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E53180-7504-421E-2A3C-D6F1D3B4126C}"/>
              </a:ext>
            </a:extLst>
          </p:cNvPr>
          <p:cNvSpPr txBox="1"/>
          <p:nvPr/>
        </p:nvSpPr>
        <p:spPr>
          <a:xfrm>
            <a:off x="494343" y="1953562"/>
            <a:ext cx="74792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Solveur de Sudoku</a:t>
            </a:r>
          </a:p>
          <a:p>
            <a:r>
              <a:rPr lang="fr-FR" sz="3200" dirty="0"/>
              <a:t>Présentation du projet</a:t>
            </a:r>
          </a:p>
          <a:p>
            <a:endParaRPr lang="fr-FR" sz="3200" b="1" dirty="0"/>
          </a:p>
          <a:p>
            <a:r>
              <a:rPr lang="fr-FR" sz="3200" b="1" dirty="0"/>
              <a:t>Objectif</a:t>
            </a:r>
            <a:r>
              <a:rPr lang="fr-FR" sz="3200" dirty="0"/>
              <a:t> </a:t>
            </a:r>
          </a:p>
          <a:p>
            <a:r>
              <a:rPr lang="fr-FR" sz="3200" dirty="0"/>
              <a:t>Développer un outil de résolution </a:t>
            </a:r>
          </a:p>
          <a:p>
            <a:r>
              <a:rPr lang="fr-FR" sz="3200" dirty="0"/>
              <a:t>de Sudoku en Python</a:t>
            </a:r>
          </a:p>
        </p:txBody>
      </p:sp>
      <p:pic>
        <p:nvPicPr>
          <p:cNvPr id="3074" name="Picture 2" descr="Sudoku — Wikipédia">
            <a:extLst>
              <a:ext uri="{FF2B5EF4-FFF2-40B4-BE49-F238E27FC236}">
                <a16:creationId xmlns:a16="http://schemas.microsoft.com/office/drawing/2014/main" id="{44BFB146-01CF-DE9A-891B-E6DFC2728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116" y="1953562"/>
            <a:ext cx="3487117" cy="348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90;p13">
            <a:extLst>
              <a:ext uri="{FF2B5EF4-FFF2-40B4-BE49-F238E27FC236}">
                <a16:creationId xmlns:a16="http://schemas.microsoft.com/office/drawing/2014/main" id="{6D3DF457-C407-1640-5170-BBD030658F8E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Google Shape;91;p13">
            <a:extLst>
              <a:ext uri="{FF2B5EF4-FFF2-40B4-BE49-F238E27FC236}">
                <a16:creationId xmlns:a16="http://schemas.microsoft.com/office/drawing/2014/main" id="{14769FFA-4DB6-2368-764A-39018882FEEC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253013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CF44-11C3-31EA-26EA-3315AD60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89A1A8AC-E6A1-F334-F222-39A77DCFB69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74F0EB-4CC8-F215-5FA8-16EDCEEED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D7608F-4131-4D90-CDDB-0C54B7CDF9D4}"/>
              </a:ext>
            </a:extLst>
          </p:cNvPr>
          <p:cNvSpPr txBox="1"/>
          <p:nvPr/>
        </p:nvSpPr>
        <p:spPr>
          <a:xfrm>
            <a:off x="766102" y="1739042"/>
            <a:ext cx="9292297" cy="4664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2000" b="1" dirty="0"/>
              <a:t>Problématique</a:t>
            </a:r>
            <a:endParaRPr lang="fr-FR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b="1" dirty="0"/>
              <a:t>Pourquoi un solveur de Sudoku ?</a:t>
            </a:r>
            <a:endParaRPr lang="fr-F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Le Sudoku est un jeu de logique populaire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Certains puzzles sont difficiles à résoudre manuellement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Application de l'algorithmique et de la programmation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b="1" dirty="0"/>
              <a:t>Méthodes de résolution envisagées:</a:t>
            </a:r>
            <a:endParaRPr lang="fr-F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Force brute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Backtracking</a:t>
            </a:r>
            <a:endParaRPr lang="fr-F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D’autres </a:t>
            </a:r>
            <a:r>
              <a:rPr lang="fr-FR" sz="2000" dirty="0" err="1"/>
              <a:t>methodes</a:t>
            </a: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</p:txBody>
      </p:sp>
      <p:sp>
        <p:nvSpPr>
          <p:cNvPr id="8" name="Google Shape;90;p13">
            <a:extLst>
              <a:ext uri="{FF2B5EF4-FFF2-40B4-BE49-F238E27FC236}">
                <a16:creationId xmlns:a16="http://schemas.microsoft.com/office/drawing/2014/main" id="{48F07B1A-00B3-EED2-4FC9-09BD951ECBF7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Google Shape;91;p13">
            <a:extLst>
              <a:ext uri="{FF2B5EF4-FFF2-40B4-BE49-F238E27FC236}">
                <a16:creationId xmlns:a16="http://schemas.microsoft.com/office/drawing/2014/main" id="{9CB04AB3-BF01-0070-1772-3D92F23631EF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919132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53526-337D-D4D3-D268-D968A570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E11B6DF6-69EC-1C3E-F95C-1B5D046888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B7D0A1-FC24-71E5-79A2-1F0064CA1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10CF2B-090B-A3DF-28AB-DEDA22B3DC54}"/>
              </a:ext>
            </a:extLst>
          </p:cNvPr>
          <p:cNvSpPr txBox="1"/>
          <p:nvPr/>
        </p:nvSpPr>
        <p:spPr>
          <a:xfrm>
            <a:off x="1052616" y="1285932"/>
            <a:ext cx="10086768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b="1" dirty="0"/>
              <a:t>Outil de gestion des tâches (Trello)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Gestion collaborative des tâches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Visualisation des progrès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Colonnes Trello suggérées: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À faire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En cours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Terminé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Exemple de tâches assignées aux membres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Recherche sur les algorithmes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Développement du solveur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Tests et validation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Interface graphique avec </a:t>
            </a:r>
            <a:r>
              <a:rPr lang="fr-FR" dirty="0" err="1"/>
              <a:t>Pygame</a:t>
            </a:r>
            <a:endParaRPr lang="fr-FR" dirty="0"/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DC7FFB5F-917F-9F41-2382-FB5E86FD68E8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Google Shape;91;p13">
            <a:extLst>
              <a:ext uri="{FF2B5EF4-FFF2-40B4-BE49-F238E27FC236}">
                <a16:creationId xmlns:a16="http://schemas.microsoft.com/office/drawing/2014/main" id="{F4B7DE96-21FC-3DC0-B41A-14E60F94E3BB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43031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392E-57BA-E0C4-D16F-D03F131B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10B188D3-E3EC-C64B-DFB4-47EF11B6A2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F1DEAD-9322-9F6C-6EB1-5E81FA63E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F58A48-85BB-6ED5-37C0-6C3DC9A44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1623111"/>
            <a:ext cx="9820656" cy="4325642"/>
          </a:xfrm>
          <a:prstGeom prst="rect">
            <a:avLst/>
          </a:prstGeom>
        </p:spPr>
      </p:pic>
      <p:sp>
        <p:nvSpPr>
          <p:cNvPr id="9" name="Google Shape;90;p13">
            <a:extLst>
              <a:ext uri="{FF2B5EF4-FFF2-40B4-BE49-F238E27FC236}">
                <a16:creationId xmlns:a16="http://schemas.microsoft.com/office/drawing/2014/main" id="{3D949C6B-CA04-105A-2EAC-34FC9DEC16D2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Google Shape;91;p13">
            <a:extLst>
              <a:ext uri="{FF2B5EF4-FFF2-40B4-BE49-F238E27FC236}">
                <a16:creationId xmlns:a16="http://schemas.microsoft.com/office/drawing/2014/main" id="{33A45359-1CC7-2FFD-A9CA-2B30BBDB94E6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294483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42C0-62C8-A709-E3BE-594AF1D8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48E0874A-8770-3EC7-CEDD-4EE3DDE89A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176732-0559-4C37-B10E-D20A4768A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ABA123-31A0-57A4-AD92-816FC7131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" y="1821507"/>
            <a:ext cx="11064240" cy="3803875"/>
          </a:xfrm>
          <a:prstGeom prst="rect">
            <a:avLst/>
          </a:prstGeom>
        </p:spPr>
      </p:pic>
      <p:sp>
        <p:nvSpPr>
          <p:cNvPr id="11" name="Google Shape;90;p13">
            <a:extLst>
              <a:ext uri="{FF2B5EF4-FFF2-40B4-BE49-F238E27FC236}">
                <a16:creationId xmlns:a16="http://schemas.microsoft.com/office/drawing/2014/main" id="{0CD0D9E1-DBE0-CCD5-395F-167CCA0416B3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Google Shape;91;p13">
            <a:extLst>
              <a:ext uri="{FF2B5EF4-FFF2-40B4-BE49-F238E27FC236}">
                <a16:creationId xmlns:a16="http://schemas.microsoft.com/office/drawing/2014/main" id="{07A11E7A-645F-7E6B-8444-958A149AD4F0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27220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B11E9-41D1-328D-A907-2C922D619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7FEEEF10-D5E5-8A79-01FF-5351CC418D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F518EB-E508-B552-3A19-63D73E097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E440F8-B7E8-38B1-4B69-E2280B8914EE}"/>
              </a:ext>
            </a:extLst>
          </p:cNvPr>
          <p:cNvSpPr txBox="1"/>
          <p:nvPr/>
        </p:nvSpPr>
        <p:spPr>
          <a:xfrm>
            <a:off x="877824" y="1953208"/>
            <a:ext cx="92262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400" b="1" dirty="0"/>
              <a:t>Structure du code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2400" b="1" dirty="0"/>
          </a:p>
          <a:p>
            <a:pPr marL="742950" marR="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b="1" dirty="0"/>
              <a:t>sudoku_solver.py </a:t>
            </a:r>
            <a:r>
              <a:rPr lang="fr-FR" altLang="fr-FR" sz="2400" dirty="0"/>
              <a:t>: Classe </a:t>
            </a:r>
            <a:r>
              <a:rPr lang="fr-FR" altLang="fr-FR" sz="2400" dirty="0" err="1"/>
              <a:t>SudokuGrid</a:t>
            </a:r>
            <a:r>
              <a:rPr lang="fr-FR" altLang="fr-FR" sz="2400" dirty="0"/>
              <a:t> et algorithmes</a:t>
            </a:r>
          </a:p>
          <a:p>
            <a:pPr marL="742950" marR="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b="1" dirty="0"/>
              <a:t>main.py </a:t>
            </a:r>
            <a:r>
              <a:rPr lang="fr-FR" altLang="fr-FR" sz="2400" dirty="0"/>
              <a:t>: Chargement des grilles et affichage des solutions</a:t>
            </a:r>
          </a:p>
          <a:p>
            <a:pPr marL="742950" marR="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b="1" dirty="0"/>
              <a:t>interface.py </a:t>
            </a:r>
            <a:r>
              <a:rPr lang="fr-FR" altLang="fr-FR" sz="2400" dirty="0"/>
              <a:t>: Interface graphique (</a:t>
            </a:r>
            <a:r>
              <a:rPr lang="fr-FR" altLang="fr-FR" sz="2400" dirty="0" err="1"/>
              <a:t>Pygame</a:t>
            </a:r>
            <a:r>
              <a:rPr lang="fr-FR" altLang="fr-FR" sz="2400" dirty="0"/>
              <a:t>)</a:t>
            </a:r>
          </a:p>
          <a:p>
            <a:pPr marL="742950" marR="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b="1" dirty="0"/>
              <a:t>README.md </a:t>
            </a:r>
            <a:r>
              <a:rPr lang="fr-FR" altLang="fr-FR" sz="2400" dirty="0"/>
              <a:t>: Explication du projet ( </a:t>
            </a:r>
            <a:r>
              <a:rPr lang="fr-FR" altLang="fr-FR" sz="2400" dirty="0" err="1"/>
              <a:t>Markdown</a:t>
            </a:r>
            <a:r>
              <a:rPr lang="fr-FR" altLang="fr-FR" sz="24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fr-FR" sz="2400" dirty="0"/>
          </a:p>
        </p:txBody>
      </p:sp>
      <p:sp>
        <p:nvSpPr>
          <p:cNvPr id="24" name="Google Shape;90;p13">
            <a:extLst>
              <a:ext uri="{FF2B5EF4-FFF2-40B4-BE49-F238E27FC236}">
                <a16:creationId xmlns:a16="http://schemas.microsoft.com/office/drawing/2014/main" id="{8A03342F-67EC-8F9E-CA3A-9C756CC0E255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" name="Google Shape;91;p13">
            <a:extLst>
              <a:ext uri="{FF2B5EF4-FFF2-40B4-BE49-F238E27FC236}">
                <a16:creationId xmlns:a16="http://schemas.microsoft.com/office/drawing/2014/main" id="{0F5CDFA9-1B45-66B8-56CE-4AE5C2385234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30977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DE05-5CA0-D951-097C-35605AEC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777111AA-90F3-D195-BB4F-8CA533AB77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1B3439-4DD8-8F01-F612-6DF62AEC9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A6D5C8F-EB86-4120-4D46-ED3163A692C7}"/>
              </a:ext>
            </a:extLst>
          </p:cNvPr>
          <p:cNvSpPr txBox="1"/>
          <p:nvPr/>
        </p:nvSpPr>
        <p:spPr>
          <a:xfrm>
            <a:off x="786384" y="1514525"/>
            <a:ext cx="10927080" cy="465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2000" b="1" dirty="0"/>
              <a:t>Répartition des tâches sur Trello et GitHub</a:t>
            </a:r>
            <a:endParaRPr lang="fr-FR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b="1" dirty="0"/>
              <a:t>Trello:</a:t>
            </a:r>
            <a:endParaRPr lang="fr-F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Membre 1: Recherche algorithmique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Membre 2: Développement du solveur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Membre 3: Interface graphique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Membre 4: Tests et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GitHub: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d'un dépôt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sudoku-solver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Branches dédiées pour chaque fonctionnalité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Revues de code et fusions des branches</a:t>
            </a:r>
          </a:p>
        </p:txBody>
      </p:sp>
      <p:sp>
        <p:nvSpPr>
          <p:cNvPr id="8" name="Google Shape;90;p13">
            <a:extLst>
              <a:ext uri="{FF2B5EF4-FFF2-40B4-BE49-F238E27FC236}">
                <a16:creationId xmlns:a16="http://schemas.microsoft.com/office/drawing/2014/main" id="{ACBB33A4-9830-AE15-4DD6-F0010EF7119E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Google Shape;91;p13">
            <a:extLst>
              <a:ext uri="{FF2B5EF4-FFF2-40B4-BE49-F238E27FC236}">
                <a16:creationId xmlns:a16="http://schemas.microsoft.com/office/drawing/2014/main" id="{9771DB0E-EDDA-F34D-6A98-6C15BCC319DC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182916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9913-8ABC-F1DE-5C08-B7B36717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4D958BC1-359D-7C1B-5AA2-CAD31F26D1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151D57-BEED-CC20-D3DC-45F014B72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413E61-0C47-1FE4-6DF1-16C221E1D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206195"/>
              </p:ext>
            </p:extLst>
          </p:nvPr>
        </p:nvGraphicFramePr>
        <p:xfrm>
          <a:off x="1258824" y="1884235"/>
          <a:ext cx="9674352" cy="3666173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452823">
                  <a:extLst>
                    <a:ext uri="{9D8B030D-6E8A-4147-A177-3AD203B41FA5}">
                      <a16:colId xmlns:a16="http://schemas.microsoft.com/office/drawing/2014/main" val="1790249295"/>
                    </a:ext>
                  </a:extLst>
                </a:gridCol>
                <a:gridCol w="3044883">
                  <a:extLst>
                    <a:ext uri="{9D8B030D-6E8A-4147-A177-3AD203B41FA5}">
                      <a16:colId xmlns:a16="http://schemas.microsoft.com/office/drawing/2014/main" val="3893835673"/>
                    </a:ext>
                  </a:extLst>
                </a:gridCol>
                <a:gridCol w="1433834">
                  <a:extLst>
                    <a:ext uri="{9D8B030D-6E8A-4147-A177-3AD203B41FA5}">
                      <a16:colId xmlns:a16="http://schemas.microsoft.com/office/drawing/2014/main" val="1083232997"/>
                    </a:ext>
                  </a:extLst>
                </a:gridCol>
                <a:gridCol w="2742812">
                  <a:extLst>
                    <a:ext uri="{9D8B030D-6E8A-4147-A177-3AD203B41FA5}">
                      <a16:colId xmlns:a16="http://schemas.microsoft.com/office/drawing/2014/main" val="177787714"/>
                    </a:ext>
                  </a:extLst>
                </a:gridCol>
              </a:tblGrid>
              <a:tr h="23456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u="none" strike="noStrike" dirty="0">
                          <a:effectLst/>
                        </a:rPr>
                        <a:t>Méthode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u="none" strike="noStrike" dirty="0">
                          <a:effectLst/>
                        </a:rPr>
                        <a:t>Description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u="none" strike="noStrike" dirty="0">
                          <a:effectLst/>
                        </a:rPr>
                        <a:t>Difficulté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200" u="none" strike="noStrike" dirty="0">
                          <a:effectLst/>
                        </a:rPr>
                        <a:t>Année 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5851968"/>
                  </a:ext>
                </a:extLst>
              </a:tr>
              <a:tr h="40578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Force Brute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Essaie toutes les combinaisons possibles jusqu'à trouver une solution.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Très Facile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1950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7392782"/>
                  </a:ext>
                </a:extLst>
              </a:tr>
              <a:tr h="40578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Backtracking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Explore les possibilités en revenant en arrière lorsqu'une impasse est atteinte.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Facile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1960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4890675"/>
                  </a:ext>
                </a:extLst>
              </a:tr>
              <a:tr h="40578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Heuristique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Utilise des règles empiriques pour guider la recherche de la solution.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Moyenne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1970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3649665"/>
                  </a:ext>
                </a:extLst>
              </a:tr>
              <a:tr h="60281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DFS (Deep First Search)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Parcours en profondeur d'abord, souvent utilisé avec le </a:t>
                      </a:r>
                      <a:r>
                        <a:rPr lang="fr-FR" sz="1200" u="none" strike="noStrike" dirty="0" err="1">
                          <a:effectLst/>
                        </a:rPr>
                        <a:t>backtracking</a:t>
                      </a:r>
                      <a:r>
                        <a:rPr lang="fr-FR" sz="1200" u="none" strike="noStrike" dirty="0">
                          <a:effectLst/>
                        </a:rPr>
                        <a:t> pour explorer les solutions.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Moyenne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1960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0189008"/>
                  </a:ext>
                </a:extLst>
              </a:tr>
              <a:tr h="40578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Contrainte Propagation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Réduit le domaine des valeurs possibles en appliquant des contraintes.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Difficile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1970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0560038"/>
                  </a:ext>
                </a:extLst>
              </a:tr>
              <a:tr h="60281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Dancing Links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Utilise une structure de données pour représenter et résoudre le problème de manière efficace.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Très Difficile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Années 2000 (popularisé par Donald Knuth)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8892634"/>
                  </a:ext>
                </a:extLst>
              </a:tr>
              <a:tr h="60281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Deep Learning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>
                          <a:effectLst/>
                        </a:rPr>
                        <a:t>Utilise des réseaux de neurones pour apprendre à résoudre des Sudokus à partir de données d'entraînement.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Extrêmement Difficile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u="none" strike="noStrike" dirty="0">
                          <a:effectLst/>
                        </a:rPr>
                        <a:t>Années 2010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Inter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790467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E03862C-6466-3204-4095-BD91F67C1FAF}"/>
              </a:ext>
            </a:extLst>
          </p:cNvPr>
          <p:cNvSpPr txBox="1"/>
          <p:nvPr/>
        </p:nvSpPr>
        <p:spPr>
          <a:xfrm>
            <a:off x="4510278" y="81504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Recherche algorithmique </a:t>
            </a:r>
          </a:p>
          <a:p>
            <a:r>
              <a:rPr lang="fr-FR" sz="1800" dirty="0"/>
              <a:t>( primaire)</a:t>
            </a:r>
            <a:endParaRPr lang="fr-FR" dirty="0"/>
          </a:p>
        </p:txBody>
      </p:sp>
      <p:sp>
        <p:nvSpPr>
          <p:cNvPr id="12" name="Google Shape;90;p13">
            <a:extLst>
              <a:ext uri="{FF2B5EF4-FFF2-40B4-BE49-F238E27FC236}">
                <a16:creationId xmlns:a16="http://schemas.microsoft.com/office/drawing/2014/main" id="{7824E28A-3944-B2DF-EEC2-A92A370C8792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Google Shape;91;p13">
            <a:extLst>
              <a:ext uri="{FF2B5EF4-FFF2-40B4-BE49-F238E27FC236}">
                <a16:creationId xmlns:a16="http://schemas.microsoft.com/office/drawing/2014/main" id="{F87C1CC4-C938-9E3B-2182-318E47D9DF8E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336760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50B8-153D-41F7-085F-C9B83488B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C139A8A6-9F1C-9EA3-0F5A-2B1F1D22EAC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4DFB74-0B9E-B9E9-21CA-33FFA394A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061CCE-59F3-5A2B-0C16-DA70235A23F1}"/>
              </a:ext>
            </a:extLst>
          </p:cNvPr>
          <p:cNvSpPr txBox="1"/>
          <p:nvPr/>
        </p:nvSpPr>
        <p:spPr>
          <a:xfrm>
            <a:off x="770382" y="2135231"/>
            <a:ext cx="82638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Conclusion prévue</a:t>
            </a:r>
          </a:p>
          <a:p>
            <a:endParaRPr lang="fr-FR" sz="2400" dirty="0"/>
          </a:p>
          <a:p>
            <a:r>
              <a:rPr lang="fr-FR" sz="2400" dirty="0"/>
              <a:t>Un solveur fonctionnel et optimisé</a:t>
            </a:r>
          </a:p>
          <a:p>
            <a:endParaRPr lang="fr-FR" sz="2400" dirty="0"/>
          </a:p>
          <a:p>
            <a:r>
              <a:rPr lang="fr-FR" sz="2400" dirty="0"/>
              <a:t>Comparaison des performances des algorithmes</a:t>
            </a:r>
          </a:p>
          <a:p>
            <a:endParaRPr lang="fr-FR" sz="2400" dirty="0"/>
          </a:p>
          <a:p>
            <a:r>
              <a:rPr lang="fr-FR" sz="2400" dirty="0"/>
              <a:t>Interfaces intuitive pour tester différentes grilles</a:t>
            </a:r>
          </a:p>
          <a:p>
            <a:endParaRPr lang="fr-FR" sz="2400" dirty="0"/>
          </a:p>
        </p:txBody>
      </p:sp>
      <p:sp>
        <p:nvSpPr>
          <p:cNvPr id="16" name="Google Shape;90;p13">
            <a:extLst>
              <a:ext uri="{FF2B5EF4-FFF2-40B4-BE49-F238E27FC236}">
                <a16:creationId xmlns:a16="http://schemas.microsoft.com/office/drawing/2014/main" id="{A41FFB7B-6431-2338-CE96-86BB71DBC694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Google Shape;91;p13">
            <a:extLst>
              <a:ext uri="{FF2B5EF4-FFF2-40B4-BE49-F238E27FC236}">
                <a16:creationId xmlns:a16="http://schemas.microsoft.com/office/drawing/2014/main" id="{9B50D8A5-A007-A13B-56A3-DFFBFE30C430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1573037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E118C-BD3F-1008-804D-FABBDC5D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9;p13" descr="Qui sommes-nous ? - École Informatique La Plateforme">
            <a:extLst>
              <a:ext uri="{FF2B5EF4-FFF2-40B4-BE49-F238E27FC236}">
                <a16:creationId xmlns:a16="http://schemas.microsoft.com/office/drawing/2014/main" id="{499BE148-C51C-7E86-0FF8-F951020164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2249" t="37421" r="22666" b="39331"/>
          <a:stretch/>
        </p:blipFill>
        <p:spPr>
          <a:xfrm>
            <a:off x="8665719" y="311277"/>
            <a:ext cx="3212515" cy="67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D4FA1A-5488-678C-A843-6ABF38799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800" t="2275" r="1139"/>
          <a:stretch/>
        </p:blipFill>
        <p:spPr>
          <a:xfrm>
            <a:off x="180048" y="238125"/>
            <a:ext cx="3134868" cy="11192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EE04E3-7826-5BFC-98DD-51101317486F}"/>
              </a:ext>
            </a:extLst>
          </p:cNvPr>
          <p:cNvSpPr txBox="1"/>
          <p:nvPr/>
        </p:nvSpPr>
        <p:spPr>
          <a:xfrm>
            <a:off x="761238" y="2148205"/>
            <a:ext cx="7904481" cy="280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fr-F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Code clair et documenté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Utilisation de GitHub pour le </a:t>
            </a:r>
            <a:r>
              <a:rPr lang="fr-FR" sz="2400" dirty="0" err="1"/>
              <a:t>versionnement</a:t>
            </a:r>
            <a:endParaRPr lang="fr-F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Collaboration efficace avec Trello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Tests rigoureux avant la mise en production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39D60-AF91-7892-07E0-F6CAD97A7114}"/>
              </a:ext>
            </a:extLst>
          </p:cNvPr>
          <p:cNvSpPr txBox="1"/>
          <p:nvPr/>
        </p:nvSpPr>
        <p:spPr>
          <a:xfrm>
            <a:off x="761238" y="1886595"/>
            <a:ext cx="3611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Recommandations</a:t>
            </a:r>
            <a:endParaRPr lang="fr-FR" sz="2800" dirty="0"/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688D29E9-663C-F286-02ED-DD9667B86F6F}"/>
              </a:ext>
            </a:extLst>
          </p:cNvPr>
          <p:cNvSpPr txBox="1"/>
          <p:nvPr/>
        </p:nvSpPr>
        <p:spPr>
          <a:xfrm>
            <a:off x="333695" y="6108192"/>
            <a:ext cx="34945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Redha-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Elaf</a:t>
            </a:r>
            <a:r>
              <a:rPr lang="fr-FR" sz="18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-Pierre-</a:t>
            </a:r>
            <a:r>
              <a:rPr lang="fr-FR" sz="1800" b="1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  <a:sym typeface="Federo"/>
              </a:rPr>
              <a:t>Dehlia</a:t>
            </a:r>
            <a:endParaRPr lang="fr-F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Google Shape;91;p13">
            <a:extLst>
              <a:ext uri="{FF2B5EF4-FFF2-40B4-BE49-F238E27FC236}">
                <a16:creationId xmlns:a16="http://schemas.microsoft.com/office/drawing/2014/main" id="{7E5FF498-A8F4-7EF2-DA04-50E9B5B774E5}"/>
              </a:ext>
            </a:extLst>
          </p:cNvPr>
          <p:cNvSpPr txBox="1"/>
          <p:nvPr/>
        </p:nvSpPr>
        <p:spPr>
          <a:xfrm>
            <a:off x="10745841" y="6108192"/>
            <a:ext cx="1112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fr-FR"/>
            </a:defPPr>
            <a:lvl1pPr>
              <a:defRPr b="1" i="0" u="none" strike="noStrike" cap="none">
                <a:solidFill>
                  <a:schemeClr val="bg1">
                    <a:lumMod val="75000"/>
                  </a:schemeClr>
                </a:solidFill>
                <a:latin typeface="Federo"/>
                <a:ea typeface="Federo"/>
                <a:cs typeface="Federo"/>
              </a:defRPr>
            </a:lvl1pPr>
          </a:lstStyle>
          <a:p>
            <a:r>
              <a:rPr lang="fr-FR" dirty="0">
                <a:sym typeface="Federo"/>
              </a:rPr>
              <a:t>Mar-2025</a:t>
            </a:r>
            <a:endParaRPr dirty="0">
              <a:sym typeface="Federo"/>
            </a:endParaRPr>
          </a:p>
        </p:txBody>
      </p:sp>
    </p:spTree>
    <p:extLst>
      <p:ext uri="{BB962C8B-B14F-4D97-AF65-F5344CB8AC3E}">
        <p14:creationId xmlns:p14="http://schemas.microsoft.com/office/powerpoint/2010/main" val="3662810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</TotalTime>
  <Words>537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Arial Unicode MS</vt:lpstr>
      <vt:lpstr>Federo</vt:lpstr>
      <vt:lpstr>Google Sans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AGGOUN Redha Chawki</dc:creator>
  <cp:lastModifiedBy>AGGOUN Redha Chawki</cp:lastModifiedBy>
  <cp:revision>13</cp:revision>
  <dcterms:created xsi:type="dcterms:W3CDTF">2025-03-17T10:11:44Z</dcterms:created>
  <dcterms:modified xsi:type="dcterms:W3CDTF">2025-03-25T11:44:06Z</dcterms:modified>
</cp:coreProperties>
</file>